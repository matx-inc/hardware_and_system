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6" r:id="rId3"/>
    <p:sldId id="271" r:id="rId4"/>
    <p:sldId id="270" r:id="rId5"/>
    <p:sldId id="274" r:id="rId6"/>
    <p:sldId id="260" r:id="rId8"/>
    <p:sldId id="277" r:id="rId9"/>
    <p:sldId id="282" r:id="rId10"/>
    <p:sldId id="281" r:id="rId11"/>
    <p:sldId id="279" r:id="rId12"/>
    <p:sldId id="278" r:id="rId13"/>
    <p:sldId id="275" r:id="rId14"/>
    <p:sldId id="276" r:id="rId15"/>
    <p:sldId id="259" r:id="rId16"/>
    <p:sldId id="265" r:id="rId17"/>
    <p:sldId id="263" r:id="rId18"/>
    <p:sldId id="266" r:id="rId19"/>
    <p:sldId id="272" r:id="rId20"/>
    <p:sldId id="273" r:id="rId21"/>
    <p:sldId id="262" r:id="rId22"/>
    <p:sldId id="267" r:id="rId23"/>
    <p:sldId id="268" r:id="rId24"/>
    <p:sldId id="269" r:id="rId25"/>
    <p:sldId id="257" r:id="rId26"/>
    <p:sldId id="258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image" Target="../media/image9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/>
              <a:t>Interposer Design Flow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Outline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838200" y="1691005"/>
            <a:ext cx="7847330" cy="34772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/>
              <a:t>Packaging Physical Design</a:t>
            </a:r>
            <a:endParaRPr lang="en-US"/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en-US"/>
              <a:t>Interposer Design</a:t>
            </a:r>
            <a:endParaRPr lang="en-US"/>
          </a:p>
          <a:p>
            <a:pPr marL="1200150" lvl="2" indent="-285750">
              <a:buFont typeface="Arial" panose="020B0604020202090204" pitchFamily="34" charset="0"/>
              <a:buChar char="•"/>
            </a:pPr>
            <a:r>
              <a:rPr lang="en-US"/>
              <a:t>Netlist</a:t>
            </a:r>
            <a:endParaRPr lang="en-US"/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en-US"/>
              <a:t>Substrate Design</a:t>
            </a:r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Explanation of LSI</a:t>
            </a:r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570" y="2599055"/>
            <a:ext cx="5213985" cy="207454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1760220" y="5278120"/>
            <a:ext cx="16351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CoWoS-S</a:t>
            </a:r>
            <a:endParaRPr lang="en-US"/>
          </a:p>
        </p:txBody>
      </p:sp>
      <p:sp>
        <p:nvSpPr>
          <p:cNvPr id="7" name="Text Box 6"/>
          <p:cNvSpPr txBox="1"/>
          <p:nvPr/>
        </p:nvSpPr>
        <p:spPr>
          <a:xfrm>
            <a:off x="7760970" y="5278120"/>
            <a:ext cx="16351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CoWoS-L</a:t>
            </a:r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2855" y="2251710"/>
            <a:ext cx="6983730" cy="25736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Floor Plan</a:t>
            </a:r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6710" y="1691005"/>
            <a:ext cx="3270250" cy="411099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0180" y="1760220"/>
            <a:ext cx="3018155" cy="369633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8400" y="1760220"/>
            <a:ext cx="3188335" cy="36963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Interposer Floorplan with LSI </a:t>
            </a:r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" y="2625725"/>
            <a:ext cx="2592070" cy="300482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0090" y="1781810"/>
            <a:ext cx="3533775" cy="412305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1955" y="2841625"/>
            <a:ext cx="2269490" cy="257238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5115" y="2842260"/>
            <a:ext cx="2456815" cy="25717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7155"/>
            <a:ext cx="10515600" cy="1325563"/>
          </a:xfrm>
        </p:spPr>
        <p:txBody>
          <a:bodyPr/>
          <a:p>
            <a:r>
              <a:rPr lang="en-US"/>
              <a:t>Task Definition </a:t>
            </a:r>
            <a:endParaRPr lang="en-US"/>
          </a:p>
        </p:txBody>
      </p:sp>
      <p:graphicFrame>
        <p:nvGraphicFramePr>
          <p:cNvPr id="7" name="Table 6"/>
          <p:cNvGraphicFramePr/>
          <p:nvPr/>
        </p:nvGraphicFramePr>
        <p:xfrm>
          <a:off x="6064250" y="1584325"/>
          <a:ext cx="5788025" cy="3225165"/>
        </p:xfrm>
        <a:graphic>
          <a:graphicData uri="http://schemas.openxmlformats.org/drawingml/2006/table">
            <a:tbl>
              <a:tblPr/>
              <a:tblGrid>
                <a:gridCol w="2381885"/>
                <a:gridCol w="1059815"/>
                <a:gridCol w="2346325"/>
              </a:tblGrid>
              <a:tr h="395605">
                <a:tc>
                  <a:txBody>
                    <a:bodyPr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Bill of material</a:t>
                      </a:r>
                      <a:endParaRPr sz="1100" b="0" i="0">
                        <a:solidFill>
                          <a:srgbClr val="000000"/>
                        </a:solidFill>
                        <a:latin typeface="Calibri"/>
                        <a:ea typeface="Calibri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number</a:t>
                      </a:r>
                      <a:endParaRPr sz="1100" b="0" i="0">
                        <a:solidFill>
                          <a:srgbClr val="000000"/>
                        </a:solidFill>
                        <a:latin typeface="Calibri"/>
                        <a:ea typeface="Calibri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>
                        <a:buNone/>
                      </a:pPr>
                      <a:r>
                        <a:rPr lang="en-US" sz="1100" b="0" i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Ownership of delivery</a:t>
                      </a:r>
                      <a:endParaRPr lang="en-US" sz="1100" b="0" i="0">
                        <a:solidFill>
                          <a:srgbClr val="000000"/>
                        </a:solidFill>
                        <a:latin typeface="Calibri"/>
                        <a:ea typeface="Calibri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91795">
                <a:tc>
                  <a:txBody>
                    <a:bodyPr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i/o chiplet</a:t>
                      </a:r>
                      <a:endParaRPr sz="1100" b="0" i="0">
                        <a:solidFill>
                          <a:srgbClr val="000000"/>
                        </a:solidFill>
                        <a:latin typeface="Calibri"/>
                        <a:ea typeface="Calibri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4</a:t>
                      </a:r>
                      <a:endParaRPr sz="1100" b="0" i="0">
                        <a:solidFill>
                          <a:srgbClr val="000000"/>
                        </a:solidFill>
                        <a:latin typeface="Calibri"/>
                        <a:ea typeface="Calibri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>
                        <a:buNone/>
                      </a:pPr>
                      <a:r>
                        <a:rPr lang="en-US" sz="1100" b="0" i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3rd Party</a:t>
                      </a:r>
                      <a:endParaRPr lang="en-US" sz="1100" b="0" i="0">
                        <a:solidFill>
                          <a:srgbClr val="000000"/>
                        </a:solidFill>
                        <a:latin typeface="Calibri"/>
                        <a:ea typeface="Calibri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36245">
                <a:tc>
                  <a:txBody>
                    <a:bodyPr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compute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top</a:t>
                      </a:r>
                      <a:endParaRPr lang="en-US" sz="1100" b="0" i="0">
                        <a:solidFill>
                          <a:srgbClr val="000000"/>
                        </a:solidFill>
                        <a:latin typeface="Calibri"/>
                        <a:ea typeface="Calibri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2</a:t>
                      </a:r>
                      <a:endParaRPr sz="1100" b="0" i="0">
                        <a:solidFill>
                          <a:srgbClr val="000000"/>
                        </a:solidFill>
                        <a:latin typeface="Calibri"/>
                        <a:ea typeface="Calibri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>
                        <a:buNone/>
                      </a:pPr>
                      <a:r>
                        <a:rPr lang="en-US" sz="1100" b="0" i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Alchip</a:t>
                      </a:r>
                      <a:endParaRPr lang="en-US" sz="1100" b="0" i="0">
                        <a:solidFill>
                          <a:srgbClr val="000000"/>
                        </a:solidFill>
                        <a:latin typeface="Calibri"/>
                        <a:ea typeface="Calibri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36245">
                <a:tc>
                  <a:txBody>
                    <a:bodyPr/>
                    <a:p>
                      <a:pPr algn="l" fontAlgn="ctr">
                        <a:buNone/>
                      </a:pPr>
                      <a:r>
                        <a:rPr lang="en-US" sz="1100" b="0" i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HBM</a:t>
                      </a:r>
                      <a:endParaRPr lang="en-US" sz="1100" b="0" i="0">
                        <a:solidFill>
                          <a:srgbClr val="000000"/>
                        </a:solidFill>
                        <a:latin typeface="Calibri"/>
                        <a:ea typeface="Calibri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>
                        <a:buNone/>
                      </a:pPr>
                      <a:r>
                        <a:rPr lang="en-US" sz="1100" b="0" i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4</a:t>
                      </a:r>
                      <a:endParaRPr lang="en-US" sz="1100" b="0" i="0">
                        <a:solidFill>
                          <a:srgbClr val="000000"/>
                        </a:solidFill>
                        <a:latin typeface="Calibri"/>
                        <a:ea typeface="Calibri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>
                        <a:buNone/>
                      </a:pPr>
                      <a:r>
                        <a:rPr lang="en-US" sz="1100" b="0" i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3rd Party</a:t>
                      </a:r>
                      <a:endParaRPr lang="en-US" sz="1100" b="0" i="0">
                        <a:solidFill>
                          <a:srgbClr val="000000"/>
                        </a:solidFill>
                        <a:latin typeface="Calibri"/>
                        <a:ea typeface="Calibri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91160">
                <a:tc>
                  <a:txBody>
                    <a:bodyPr/>
                    <a:p>
                      <a:pPr algn="l" fontAlgn="ctr"/>
                      <a:r>
                        <a:rPr lang="en-US" sz="1100" b="0" i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Dummy die / IPD die</a:t>
                      </a:r>
                      <a:endParaRPr lang="en-US" sz="1100" b="0" i="0">
                        <a:solidFill>
                          <a:srgbClr val="000000"/>
                        </a:solidFill>
                        <a:latin typeface="Calibri"/>
                        <a:ea typeface="Calibri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12</a:t>
                      </a:r>
                      <a:endParaRPr sz="1100" b="0" i="0">
                        <a:solidFill>
                          <a:srgbClr val="000000"/>
                        </a:solidFill>
                        <a:latin typeface="Calibri"/>
                        <a:ea typeface="Calibri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>
                        <a:buNone/>
                      </a:pPr>
                      <a:r>
                        <a:rPr lang="en-US" sz="1100" b="0" i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Alchip</a:t>
                      </a:r>
                      <a:endParaRPr lang="en-US" sz="1100" b="0" i="0">
                        <a:solidFill>
                          <a:srgbClr val="000000"/>
                        </a:solidFill>
                        <a:latin typeface="Calibri"/>
                        <a:ea typeface="Calibri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91795">
                <a:tc>
                  <a:txBody>
                    <a:bodyPr/>
                    <a:p>
                      <a:pPr algn="l" fontAlgn="ctr"/>
                      <a:r>
                        <a:rPr sz="1100" b="0" i="0">
                          <a:solidFill>
                            <a:srgbClr val="FFC000"/>
                          </a:solidFill>
                          <a:latin typeface="Calibri"/>
                          <a:ea typeface="Calibri"/>
                        </a:rPr>
                        <a:t>interposer substrate (RDL)</a:t>
                      </a:r>
                      <a:endParaRPr sz="1100" b="0" i="0">
                        <a:solidFill>
                          <a:srgbClr val="FFC000"/>
                        </a:solidFill>
                        <a:latin typeface="Calibri"/>
                        <a:ea typeface="Calibri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100" b="0" i="0">
                          <a:solidFill>
                            <a:srgbClr val="FFC000"/>
                          </a:solidFill>
                          <a:latin typeface="Calibri"/>
                          <a:ea typeface="Calibri"/>
                        </a:rPr>
                        <a:t>1</a:t>
                      </a:r>
                      <a:endParaRPr sz="1100" b="0" i="0">
                        <a:solidFill>
                          <a:srgbClr val="FFC000"/>
                        </a:solidFill>
                        <a:latin typeface="Calibri"/>
                        <a:ea typeface="Calibri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>
                        <a:buNone/>
                      </a:pPr>
                      <a:r>
                        <a:rPr lang="en-US" sz="1100" b="0" i="0">
                          <a:solidFill>
                            <a:srgbClr val="FFC000"/>
                          </a:solidFill>
                          <a:latin typeface="Calibri"/>
                          <a:ea typeface="Calibri"/>
                        </a:rPr>
                        <a:t>Alchip</a:t>
                      </a:r>
                      <a:endParaRPr lang="en-US" sz="1100" b="0" i="0">
                        <a:solidFill>
                          <a:srgbClr val="FFC000"/>
                        </a:solidFill>
                        <a:latin typeface="Calibri"/>
                        <a:ea typeface="Calibri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91160">
                <a:tc>
                  <a:txBody>
                    <a:bodyPr/>
                    <a:p>
                      <a:pPr algn="l" fontAlgn="ctr"/>
                      <a:r>
                        <a:rPr sz="1100" b="0" i="0">
                          <a:solidFill>
                            <a:srgbClr val="EF4EB3"/>
                          </a:solidFill>
                          <a:latin typeface="Calibri"/>
                          <a:ea typeface="Calibri"/>
                        </a:rPr>
                        <a:t>LSI</a:t>
                      </a:r>
                      <a:r>
                        <a:rPr lang="en-US" sz="1100" b="0" i="0">
                          <a:solidFill>
                            <a:srgbClr val="EF4EB3"/>
                          </a:solidFill>
                          <a:latin typeface="Calibri"/>
                          <a:ea typeface="Calibri"/>
                        </a:rPr>
                        <a:t> (functional)</a:t>
                      </a:r>
                      <a:endParaRPr lang="en-US" sz="1100" b="0" i="0">
                        <a:solidFill>
                          <a:srgbClr val="EF4EB3"/>
                        </a:solidFill>
                        <a:latin typeface="Calibri"/>
                        <a:ea typeface="Calibri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100" b="0" i="0">
                          <a:solidFill>
                            <a:srgbClr val="EF4EB3"/>
                          </a:solidFill>
                          <a:latin typeface="Calibri"/>
                          <a:ea typeface="Calibri"/>
                        </a:rPr>
                        <a:t>9</a:t>
                      </a:r>
                      <a:r>
                        <a:rPr lang="en-US" sz="1100" b="0" i="0">
                          <a:solidFill>
                            <a:srgbClr val="EF4EB3"/>
                          </a:solidFill>
                          <a:latin typeface="Calibri"/>
                          <a:ea typeface="Calibri"/>
                        </a:rPr>
                        <a:t> = 4 + 4+ 1</a:t>
                      </a:r>
                      <a:endParaRPr lang="en-US" sz="1100" b="0" i="0">
                        <a:solidFill>
                          <a:srgbClr val="EF4EB3"/>
                        </a:solidFill>
                        <a:latin typeface="Calibri"/>
                        <a:ea typeface="Calibri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>
                        <a:buNone/>
                      </a:pPr>
                      <a:r>
                        <a:rPr lang="en-US" sz="1100" b="0" i="0">
                          <a:solidFill>
                            <a:srgbClr val="EF4EB3"/>
                          </a:solidFill>
                          <a:latin typeface="Calibri"/>
                          <a:ea typeface="Calibri"/>
                        </a:rPr>
                        <a:t>Alchip</a:t>
                      </a:r>
                      <a:endParaRPr lang="en-US" sz="1100" b="0" i="0">
                        <a:solidFill>
                          <a:srgbClr val="EF4EB3"/>
                        </a:solidFill>
                        <a:latin typeface="Calibri"/>
                        <a:ea typeface="Calibri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91160">
                <a:tc>
                  <a:txBody>
                    <a:bodyPr/>
                    <a:p>
                      <a:pPr algn="l" fontAlgn="ctr">
                        <a:buNone/>
                      </a:pPr>
                      <a:r>
                        <a:rPr lang="en-US" sz="1100" b="0" i="0">
                          <a:solidFill>
                            <a:schemeClr val="accent6"/>
                          </a:solidFill>
                          <a:latin typeface="Calibri"/>
                          <a:ea typeface="Calibri"/>
                        </a:rPr>
                        <a:t>LSI_PI</a:t>
                      </a:r>
                      <a:endParaRPr lang="en-US" sz="1100" b="0" i="0">
                        <a:solidFill>
                          <a:schemeClr val="accent6"/>
                        </a:solidFill>
                        <a:latin typeface="Calibri"/>
                        <a:ea typeface="Calibri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>
                        <a:buNone/>
                      </a:pPr>
                      <a:r>
                        <a:rPr lang="en-US" sz="1100" b="0" i="0">
                          <a:solidFill>
                            <a:schemeClr val="accent6"/>
                          </a:solidFill>
                          <a:latin typeface="Calibri"/>
                          <a:ea typeface="Calibri"/>
                        </a:rPr>
                        <a:t>8</a:t>
                      </a:r>
                      <a:endParaRPr lang="en-US" sz="1100" b="0" i="0">
                        <a:solidFill>
                          <a:schemeClr val="accent6"/>
                        </a:solidFill>
                        <a:latin typeface="Calibri"/>
                        <a:ea typeface="Calibri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>
                        <a:buNone/>
                      </a:pPr>
                      <a:r>
                        <a:rPr lang="en-US" sz="1100" b="0" i="0">
                          <a:solidFill>
                            <a:schemeClr val="accent6"/>
                          </a:solidFill>
                          <a:latin typeface="Calibri"/>
                          <a:ea typeface="Calibri"/>
                        </a:rPr>
                        <a:t>Alchip</a:t>
                      </a:r>
                      <a:endParaRPr lang="en-US" sz="1100" b="0" i="0">
                        <a:solidFill>
                          <a:schemeClr val="accent6"/>
                        </a:solidFill>
                        <a:latin typeface="Calibri"/>
                        <a:ea typeface="Calibri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Text Box 7"/>
          <p:cNvSpPr txBox="1"/>
          <p:nvPr/>
        </p:nvSpPr>
        <p:spPr>
          <a:xfrm>
            <a:off x="7017385" y="5083175"/>
            <a:ext cx="433641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/>
              <a:t>LSI has 4 flavors:</a:t>
            </a:r>
            <a:endParaRPr lang="en-US"/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en-US"/>
              <a:t>LSI-1 (io chiplet) *4</a:t>
            </a:r>
            <a:endParaRPr lang="en-US"/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en-US"/>
              <a:t>LSI-2 (HBM4) *4</a:t>
            </a:r>
            <a:endParaRPr lang="en-US"/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en-US"/>
              <a:t>LSI-3 (D-2-D)*1</a:t>
            </a:r>
            <a:endParaRPr lang="en-US"/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en-US"/>
              <a:t>LSI-EDTC (8)</a:t>
            </a:r>
            <a:endParaRPr lang="en-US"/>
          </a:p>
        </p:txBody>
      </p:sp>
      <p:sp>
        <p:nvSpPr>
          <p:cNvPr id="9" name="Text Box 8"/>
          <p:cNvSpPr txBox="1"/>
          <p:nvPr/>
        </p:nvSpPr>
        <p:spPr>
          <a:xfrm>
            <a:off x="7017385" y="75946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 Interposer Plan Assebmly </a:t>
            </a:r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2340" y="1231265"/>
            <a:ext cx="4225290" cy="49301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Signal Connection Back-Annotation</a:t>
            </a:r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8475" y="2178685"/>
            <a:ext cx="5517515" cy="430784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259330"/>
            <a:ext cx="4053840" cy="306768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040130" y="894715"/>
            <a:ext cx="741680" cy="18256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6040" y="1798320"/>
            <a:ext cx="1127760" cy="468820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Channel Re-Order After Rotation</a:t>
            </a:r>
            <a:endParaRPr lang="en-US"/>
          </a:p>
        </p:txBody>
      </p:sp>
      <p:graphicFrame>
        <p:nvGraphicFramePr>
          <p:cNvPr id="4" name="Table 3"/>
          <p:cNvGraphicFramePr/>
          <p:nvPr/>
        </p:nvGraphicFramePr>
        <p:xfrm>
          <a:off x="6702425" y="2893060"/>
          <a:ext cx="5120640" cy="640080"/>
        </p:xfrm>
        <a:graphic>
          <a:graphicData uri="http://schemas.openxmlformats.org/drawingml/2006/table">
            <a:tbl>
              <a:tblPr/>
              <a:tblGrid>
                <a:gridCol w="731520"/>
                <a:gridCol w="731520"/>
                <a:gridCol w="731520"/>
                <a:gridCol w="731520"/>
                <a:gridCol w="731520"/>
                <a:gridCol w="731520"/>
                <a:gridCol w="731520"/>
              </a:tblGrid>
              <a:tr h="213360">
                <a:tc>
                  <a:txBody>
                    <a:bodyPr/>
                    <a:p>
                      <a:pPr algn="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1</a:t>
                      </a:r>
                      <a:endParaRPr sz="1100" b="0" i="0">
                        <a:solidFill>
                          <a:srgbClr val="000000"/>
                        </a:solidFill>
                        <a:latin typeface="Calibri"/>
                        <a:ea typeface="Calibri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2</a:t>
                      </a:r>
                      <a:endParaRPr sz="1100" b="0" i="0">
                        <a:solidFill>
                          <a:srgbClr val="000000"/>
                        </a:solidFill>
                        <a:latin typeface="Calibri"/>
                        <a:ea typeface="Calibri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3</a:t>
                      </a:r>
                      <a:endParaRPr sz="1100" b="0" i="0">
                        <a:solidFill>
                          <a:srgbClr val="000000"/>
                        </a:solidFill>
                        <a:latin typeface="Calibri"/>
                        <a:ea typeface="Calibri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4</a:t>
                      </a:r>
                      <a:endParaRPr sz="1100" b="0" i="0">
                        <a:solidFill>
                          <a:srgbClr val="000000"/>
                        </a:solidFill>
                        <a:latin typeface="Calibri"/>
                        <a:ea typeface="Calibri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5</a:t>
                      </a:r>
                      <a:endParaRPr sz="1100" b="0" i="0">
                        <a:solidFill>
                          <a:srgbClr val="000000"/>
                        </a:solidFill>
                        <a:latin typeface="Calibri"/>
                        <a:ea typeface="Calibri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6</a:t>
                      </a:r>
                      <a:endParaRPr sz="1100" b="0" i="0">
                        <a:solidFill>
                          <a:srgbClr val="000000"/>
                        </a:solidFill>
                        <a:latin typeface="Calibri"/>
                        <a:ea typeface="Calibri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7</a:t>
                      </a:r>
                      <a:endParaRPr sz="1100" b="0" i="0">
                        <a:solidFill>
                          <a:srgbClr val="000000"/>
                        </a:solidFill>
                        <a:latin typeface="Calibri"/>
                        <a:ea typeface="Calibri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3360"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Calibri"/>
                        <a:ea typeface="Calibri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Calibri"/>
                        <a:ea typeface="Calibri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Calibri"/>
                        <a:ea typeface="Calibri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Calibri"/>
                        <a:ea typeface="Calibri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Calibri"/>
                        <a:ea typeface="Calibri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Calibri"/>
                        <a:ea typeface="Calibri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Calibri"/>
                        <a:ea typeface="Calibri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3360">
                <a:tc>
                  <a:txBody>
                    <a:bodyPr/>
                    <a:p>
                      <a:pPr algn="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7</a:t>
                      </a:r>
                      <a:endParaRPr sz="1100" b="0" i="0">
                        <a:solidFill>
                          <a:srgbClr val="000000"/>
                        </a:solidFill>
                        <a:latin typeface="Calibri"/>
                        <a:ea typeface="Calibri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6</a:t>
                      </a:r>
                      <a:endParaRPr sz="1100" b="0" i="0">
                        <a:solidFill>
                          <a:srgbClr val="000000"/>
                        </a:solidFill>
                        <a:latin typeface="Calibri"/>
                        <a:ea typeface="Calibri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5</a:t>
                      </a:r>
                      <a:endParaRPr sz="1100" b="0" i="0">
                        <a:solidFill>
                          <a:srgbClr val="000000"/>
                        </a:solidFill>
                        <a:latin typeface="Calibri"/>
                        <a:ea typeface="Calibri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4</a:t>
                      </a:r>
                      <a:endParaRPr sz="1100" b="0" i="0">
                        <a:solidFill>
                          <a:srgbClr val="000000"/>
                        </a:solidFill>
                        <a:latin typeface="Calibri"/>
                        <a:ea typeface="Calibri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3</a:t>
                      </a:r>
                      <a:endParaRPr sz="1100" b="0" i="0">
                        <a:solidFill>
                          <a:srgbClr val="000000"/>
                        </a:solidFill>
                        <a:latin typeface="Calibri"/>
                        <a:ea typeface="Calibri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2</a:t>
                      </a:r>
                      <a:endParaRPr sz="1100" b="0" i="0">
                        <a:solidFill>
                          <a:srgbClr val="000000"/>
                        </a:solidFill>
                        <a:latin typeface="Calibri"/>
                        <a:ea typeface="Calibri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1</a:t>
                      </a:r>
                      <a:endParaRPr sz="1100" b="0" i="0">
                        <a:solidFill>
                          <a:srgbClr val="000000"/>
                        </a:solidFill>
                        <a:latin typeface="Calibri"/>
                        <a:ea typeface="Calibri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855" y="1806575"/>
            <a:ext cx="5667375" cy="40195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Achievenment: Verified 64-bit Routing</a:t>
            </a:r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1265" y="1691005"/>
            <a:ext cx="1009650" cy="421259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5385" y="1814195"/>
            <a:ext cx="742315" cy="39655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Netlist </a:t>
            </a:r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1022350" y="1948180"/>
            <a:ext cx="4530090" cy="14801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/>
              <a:t>Excel sheet / Verilog</a:t>
            </a:r>
            <a:endParaRPr lang="en-US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/>
              <a:t>Database</a:t>
            </a:r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7155"/>
            <a:ext cx="10515600" cy="1325563"/>
          </a:xfrm>
        </p:spPr>
        <p:txBody>
          <a:bodyPr/>
          <a:p>
            <a:r>
              <a:rPr lang="en-US"/>
              <a:t>Process Definition</a:t>
            </a:r>
            <a:endParaRPr lang="en-US"/>
          </a:p>
        </p:txBody>
      </p:sp>
      <p:sp>
        <p:nvSpPr>
          <p:cNvPr id="5" name="Rectangles 4"/>
          <p:cNvSpPr/>
          <p:nvPr/>
        </p:nvSpPr>
        <p:spPr>
          <a:xfrm>
            <a:off x="1139190" y="1004570"/>
            <a:ext cx="7157085" cy="119126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marL="285750" indent="-285750" algn="l">
              <a:buFont typeface="Arial" panose="020B0604020202090204" pitchFamily="34" charset="0"/>
              <a:buChar char="•"/>
            </a:pPr>
            <a:r>
              <a:rPr lang="en-US"/>
              <a:t>Global uBump Map (xlsx, LEF)</a:t>
            </a:r>
            <a:endParaRPr lang="en-US"/>
          </a:p>
          <a:p>
            <a:pPr marL="285750" indent="-285750" algn="l">
              <a:buFont typeface="Arial" panose="020B0604020202090204" pitchFamily="34" charset="0"/>
              <a:buChar char="•"/>
            </a:pPr>
            <a:r>
              <a:rPr lang="en-US"/>
              <a:t>C4 Bump Map (xlsx, csv)</a:t>
            </a:r>
            <a:endParaRPr lang="en-US"/>
          </a:p>
          <a:p>
            <a:pPr marL="285750" indent="-285750" algn="l">
              <a:buFont typeface="Arial" panose="020B0604020202090204" pitchFamily="34" charset="0"/>
              <a:buChar char="•"/>
            </a:pPr>
            <a:r>
              <a:rPr lang="en-US"/>
              <a:t>Netlist; Connectivity (signal &amp; power), signal types, IP?</a:t>
            </a:r>
            <a:endParaRPr lang="en-US"/>
          </a:p>
          <a:p>
            <a:pPr marL="285750" indent="-285750" algn="l">
              <a:buFont typeface="Arial" panose="020B0604020202090204" pitchFamily="34" charset="0"/>
              <a:buChar char="•"/>
            </a:pPr>
            <a:r>
              <a:rPr lang="en-US" b="1"/>
              <a:t>SPEC;</a:t>
            </a:r>
            <a:r>
              <a:rPr lang="en-US"/>
              <a:t> LSI, power, signal back-annotation from IP provider </a:t>
            </a:r>
            <a:r>
              <a:rPr lang="en-US" b="1">
                <a:solidFill>
                  <a:srgbClr val="FF0000"/>
                </a:solidFill>
              </a:rPr>
              <a:t>etc</a:t>
            </a:r>
            <a:r>
              <a:rPr lang="en-US">
                <a:solidFill>
                  <a:srgbClr val="FF0000"/>
                </a:solidFill>
              </a:rPr>
              <a:t>.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7" name="Down Arrow 6"/>
          <p:cNvSpPr/>
          <p:nvPr/>
        </p:nvSpPr>
        <p:spPr>
          <a:xfrm>
            <a:off x="2691130" y="2285365"/>
            <a:ext cx="517525" cy="980440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Rectangles 7"/>
          <p:cNvSpPr/>
          <p:nvPr/>
        </p:nvSpPr>
        <p:spPr>
          <a:xfrm>
            <a:off x="1807845" y="3265805"/>
            <a:ext cx="2261870" cy="150749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" name="Down Arrow 8"/>
          <p:cNvSpPr/>
          <p:nvPr/>
        </p:nvSpPr>
        <p:spPr>
          <a:xfrm>
            <a:off x="2611755" y="4807585"/>
            <a:ext cx="517525" cy="690880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" name="Rectangles 9"/>
          <p:cNvSpPr/>
          <p:nvPr/>
        </p:nvSpPr>
        <p:spPr>
          <a:xfrm>
            <a:off x="1138555" y="5533390"/>
            <a:ext cx="4153535" cy="128206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marL="285750" indent="-285750" algn="l">
              <a:buFont typeface="Arial" panose="020B0604020202090204" pitchFamily="34" charset="0"/>
              <a:buChar char="•"/>
            </a:pPr>
            <a:r>
              <a:rPr lang="en-US"/>
              <a:t>Intererposer design</a:t>
            </a:r>
            <a:endParaRPr lang="en-US"/>
          </a:p>
          <a:p>
            <a:pPr marL="742950" lvl="1" indent="-285750" algn="l">
              <a:buFont typeface="Arial" panose="020B0604020202090204" pitchFamily="34" charset="0"/>
              <a:buChar char="•"/>
            </a:pPr>
            <a:r>
              <a:rPr lang="en-US"/>
              <a:t>RDL design (*1)</a:t>
            </a:r>
            <a:endParaRPr lang="en-US"/>
          </a:p>
          <a:p>
            <a:pPr marL="742950" lvl="1" indent="-285750" algn="l">
              <a:buFont typeface="Arial" panose="020B0604020202090204" pitchFamily="34" charset="0"/>
              <a:buChar char="•"/>
            </a:pPr>
            <a:r>
              <a:rPr lang="en-US"/>
              <a:t>LSI design (*3) </a:t>
            </a:r>
            <a:endParaRPr lang="en-US"/>
          </a:p>
          <a:p>
            <a:pPr marL="285750" indent="-285750" algn="l">
              <a:buFont typeface="Arial" panose="020B0604020202090204" pitchFamily="34" charset="0"/>
              <a:buChar char="•"/>
            </a:pPr>
            <a:endParaRPr lang="en-US"/>
          </a:p>
        </p:txBody>
      </p:sp>
      <p:sp>
        <p:nvSpPr>
          <p:cNvPr id="11" name="Text Box 10"/>
          <p:cNvSpPr txBox="1"/>
          <p:nvPr/>
        </p:nvSpPr>
        <p:spPr>
          <a:xfrm>
            <a:off x="224790" y="1216025"/>
            <a:ext cx="733425" cy="4337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/>
              <a:t>input</a:t>
            </a:r>
            <a:endParaRPr lang="en-US"/>
          </a:p>
        </p:txBody>
      </p:sp>
      <p:sp>
        <p:nvSpPr>
          <p:cNvPr id="13" name="Text Box 12"/>
          <p:cNvSpPr txBox="1"/>
          <p:nvPr/>
        </p:nvSpPr>
        <p:spPr>
          <a:xfrm>
            <a:off x="128270" y="6014085"/>
            <a:ext cx="1010285" cy="4343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/>
              <a:t>output</a:t>
            </a:r>
            <a:endParaRPr lang="en-US"/>
          </a:p>
        </p:txBody>
      </p:sp>
      <p:sp>
        <p:nvSpPr>
          <p:cNvPr id="14" name="Text Box 13"/>
          <p:cNvSpPr txBox="1"/>
          <p:nvPr/>
        </p:nvSpPr>
        <p:spPr>
          <a:xfrm>
            <a:off x="128905" y="3413125"/>
            <a:ext cx="1364615" cy="8045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/>
              <a:t>Interposer Design Process</a:t>
            </a:r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" name="Rectangles 28"/>
          <p:cNvSpPr/>
          <p:nvPr/>
        </p:nvSpPr>
        <p:spPr>
          <a:xfrm>
            <a:off x="93345" y="2344420"/>
            <a:ext cx="12011025" cy="248348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0270" y="111125"/>
            <a:ext cx="7569200" cy="600710"/>
          </a:xfrm>
        </p:spPr>
        <p:txBody>
          <a:bodyPr>
            <a:normAutofit fontScale="90000"/>
          </a:bodyPr>
          <a:p>
            <a:r>
              <a:rPr lang="en-US"/>
              <a:t>Netlist</a:t>
            </a:r>
            <a:endParaRPr lang="en-US"/>
          </a:p>
        </p:txBody>
      </p:sp>
      <p:sp>
        <p:nvSpPr>
          <p:cNvPr id="16" name="Down Arrow 15"/>
          <p:cNvSpPr/>
          <p:nvPr/>
        </p:nvSpPr>
        <p:spPr>
          <a:xfrm>
            <a:off x="4824730" y="1927225"/>
            <a:ext cx="517525" cy="51625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8" name="Down Arrow 17"/>
          <p:cNvSpPr/>
          <p:nvPr/>
        </p:nvSpPr>
        <p:spPr>
          <a:xfrm>
            <a:off x="4824730" y="4621530"/>
            <a:ext cx="517525" cy="85915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9" name="Rectangles 18"/>
          <p:cNvSpPr/>
          <p:nvPr/>
        </p:nvSpPr>
        <p:spPr>
          <a:xfrm>
            <a:off x="3088005" y="5469255"/>
            <a:ext cx="4153535" cy="128206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marL="285750" indent="-285750" algn="l">
              <a:buFont typeface="Arial" panose="020B0604020202090204" pitchFamily="34" charset="0"/>
              <a:buChar char="•"/>
            </a:pPr>
            <a:r>
              <a:rPr lang="en-US"/>
              <a:t>Intererposer design</a:t>
            </a:r>
            <a:endParaRPr lang="en-US"/>
          </a:p>
          <a:p>
            <a:pPr marL="742950" lvl="1" indent="-285750" algn="l">
              <a:buFont typeface="Arial" panose="020B0604020202090204" pitchFamily="34" charset="0"/>
              <a:buChar char="•"/>
            </a:pPr>
            <a:r>
              <a:rPr lang="en-US"/>
              <a:t>RDL design (*1) -- mcm file</a:t>
            </a:r>
            <a:endParaRPr lang="en-US"/>
          </a:p>
          <a:p>
            <a:pPr marL="742950" lvl="1" indent="-285750" algn="l">
              <a:buFont typeface="Arial" panose="020B0604020202090204" pitchFamily="34" charset="0"/>
              <a:buChar char="•"/>
            </a:pPr>
            <a:r>
              <a:rPr lang="en-US"/>
              <a:t>LSI design (*3) -- gds file </a:t>
            </a:r>
            <a:endParaRPr lang="en-US"/>
          </a:p>
          <a:p>
            <a:pPr marL="285750" indent="-285750" algn="l">
              <a:buFont typeface="Arial" panose="020B0604020202090204" pitchFamily="34" charset="0"/>
              <a:buChar char="•"/>
            </a:pPr>
            <a:endParaRPr lang="en-US"/>
          </a:p>
        </p:txBody>
      </p:sp>
      <p:sp>
        <p:nvSpPr>
          <p:cNvPr id="20" name="Text Box 19"/>
          <p:cNvSpPr txBox="1"/>
          <p:nvPr/>
        </p:nvSpPr>
        <p:spPr>
          <a:xfrm>
            <a:off x="1426845" y="931545"/>
            <a:ext cx="733425" cy="4337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/>
              <a:t>input</a:t>
            </a:r>
            <a:endParaRPr lang="en-US"/>
          </a:p>
        </p:txBody>
      </p:sp>
      <p:sp>
        <p:nvSpPr>
          <p:cNvPr id="21" name="Text Box 20"/>
          <p:cNvSpPr txBox="1"/>
          <p:nvPr/>
        </p:nvSpPr>
        <p:spPr>
          <a:xfrm>
            <a:off x="1426845" y="5757545"/>
            <a:ext cx="1010285" cy="4343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/>
              <a:t>output</a:t>
            </a:r>
            <a:endParaRPr lang="en-US"/>
          </a:p>
        </p:txBody>
      </p:sp>
      <p:sp>
        <p:nvSpPr>
          <p:cNvPr id="22" name="Text Box 21"/>
          <p:cNvSpPr txBox="1"/>
          <p:nvPr/>
        </p:nvSpPr>
        <p:spPr>
          <a:xfrm>
            <a:off x="158115" y="2662555"/>
            <a:ext cx="1364615" cy="8045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/>
              <a:t>Design Process</a:t>
            </a:r>
            <a:endParaRPr lang="en-US"/>
          </a:p>
        </p:txBody>
      </p:sp>
      <p:sp>
        <p:nvSpPr>
          <p:cNvPr id="3" name="Rectangles 2"/>
          <p:cNvSpPr/>
          <p:nvPr/>
        </p:nvSpPr>
        <p:spPr>
          <a:xfrm>
            <a:off x="158115" y="3704590"/>
            <a:ext cx="2861310" cy="81851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indent="0" algn="l">
              <a:buFont typeface="Arial" panose="020B0604020202090204" pitchFamily="34" charset="0"/>
              <a:buNone/>
            </a:pPr>
            <a:r>
              <a:rPr lang="en-US"/>
              <a:t>RDL substrate</a:t>
            </a:r>
            <a:endParaRPr lang="en-US"/>
          </a:p>
          <a:p>
            <a:pPr indent="0" algn="l">
              <a:buFont typeface="Arial" panose="020B0604020202090204" pitchFamily="34" charset="0"/>
              <a:buNone/>
            </a:pPr>
            <a:endParaRPr lang="en-US"/>
          </a:p>
        </p:txBody>
      </p:sp>
      <p:sp>
        <p:nvSpPr>
          <p:cNvPr id="4" name="Rectangles 3"/>
          <p:cNvSpPr/>
          <p:nvPr/>
        </p:nvSpPr>
        <p:spPr>
          <a:xfrm>
            <a:off x="3218180" y="3672840"/>
            <a:ext cx="2861310" cy="88328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indent="0" algn="l">
              <a:buFont typeface="Arial" panose="020B0604020202090204" pitchFamily="34" charset="0"/>
              <a:buNone/>
            </a:pPr>
            <a:r>
              <a:rPr lang="en-US"/>
              <a:t>LSI-1 (i/o chiplet &lt;-&gt; computetop)  </a:t>
            </a:r>
            <a:endParaRPr lang="en-US"/>
          </a:p>
        </p:txBody>
      </p:sp>
      <p:sp>
        <p:nvSpPr>
          <p:cNvPr id="6" name="Rectangles 5"/>
          <p:cNvSpPr/>
          <p:nvPr/>
        </p:nvSpPr>
        <p:spPr>
          <a:xfrm>
            <a:off x="6165850" y="3704590"/>
            <a:ext cx="2861310" cy="80962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indent="0" algn="l">
              <a:buFont typeface="Arial" panose="020B0604020202090204" pitchFamily="34" charset="0"/>
              <a:buNone/>
            </a:pPr>
            <a:r>
              <a:rPr lang="en-US"/>
              <a:t>LSI-2 (HBM4 &lt;-&gt; computetop)</a:t>
            </a:r>
            <a:endParaRPr lang="en-US"/>
          </a:p>
        </p:txBody>
      </p:sp>
      <p:sp>
        <p:nvSpPr>
          <p:cNvPr id="12" name="Rectangles 11"/>
          <p:cNvSpPr/>
          <p:nvPr/>
        </p:nvSpPr>
        <p:spPr>
          <a:xfrm>
            <a:off x="9170035" y="3726815"/>
            <a:ext cx="2861310" cy="80200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indent="0" algn="l">
              <a:buFont typeface="Arial" panose="020B0604020202090204" pitchFamily="34" charset="0"/>
              <a:buNone/>
            </a:pPr>
            <a:r>
              <a:rPr lang="en-US"/>
              <a:t>LSI-3 (</a:t>
            </a:r>
            <a:r>
              <a:rPr lang="en-US"/>
              <a:t>computetop &lt;-&gt; computetop twin)</a:t>
            </a:r>
            <a:endParaRPr lang="en-US"/>
          </a:p>
        </p:txBody>
      </p:sp>
      <p:sp>
        <p:nvSpPr>
          <p:cNvPr id="23" name="Rectangles 22"/>
          <p:cNvSpPr/>
          <p:nvPr/>
        </p:nvSpPr>
        <p:spPr>
          <a:xfrm>
            <a:off x="2886710" y="2458720"/>
            <a:ext cx="4719955" cy="81851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indent="0" algn="l">
              <a:buFont typeface="Arial" panose="020B0604020202090204" pitchFamily="34" charset="0"/>
              <a:buNone/>
            </a:pPr>
            <a:r>
              <a:rPr lang="en-US"/>
              <a:t>Connectivity break down :</a:t>
            </a:r>
            <a:endParaRPr lang="en-US"/>
          </a:p>
          <a:p>
            <a:pPr indent="457200" algn="l">
              <a:buFont typeface="+mj-lt"/>
              <a:buNone/>
            </a:pPr>
            <a:r>
              <a:rPr lang="en-US"/>
              <a:t>RDL , LSI-I, LSI-2, LSI-3 &amp; LSI_EDTC</a:t>
            </a:r>
            <a:endParaRPr lang="en-US"/>
          </a:p>
          <a:p>
            <a:pPr indent="457200" algn="l">
              <a:buFont typeface="Arial" panose="020B0604020202090204" pitchFamily="34" charset="0"/>
              <a:buNone/>
            </a:pPr>
            <a:r>
              <a:rPr lang="en-US"/>
              <a:t>   </a:t>
            </a:r>
            <a:endParaRPr lang="en-US"/>
          </a:p>
        </p:txBody>
      </p:sp>
      <p:cxnSp>
        <p:nvCxnSpPr>
          <p:cNvPr id="25" name="Elbow Connector 24"/>
          <p:cNvCxnSpPr/>
          <p:nvPr/>
        </p:nvCxnSpPr>
        <p:spPr>
          <a:xfrm>
            <a:off x="7515860" y="2868295"/>
            <a:ext cx="2994025" cy="858520"/>
          </a:xfrm>
          <a:prstGeom prst="bentConnector2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Elbow Connector 25"/>
          <p:cNvCxnSpPr>
            <a:endCxn id="3" idx="0"/>
          </p:cNvCxnSpPr>
          <p:nvPr/>
        </p:nvCxnSpPr>
        <p:spPr>
          <a:xfrm rot="10800000" flipV="1">
            <a:off x="1588135" y="2985770"/>
            <a:ext cx="1401445" cy="718820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Elbow Connector 26"/>
          <p:cNvCxnSpPr>
            <a:stCxn id="23" idx="2"/>
            <a:endCxn id="4" idx="0"/>
          </p:cNvCxnSpPr>
          <p:nvPr/>
        </p:nvCxnSpPr>
        <p:spPr>
          <a:xfrm rot="5400000">
            <a:off x="4750435" y="3175635"/>
            <a:ext cx="395605" cy="598170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Elbow Connector 27"/>
          <p:cNvCxnSpPr>
            <a:endCxn id="6" idx="0"/>
          </p:cNvCxnSpPr>
          <p:nvPr/>
        </p:nvCxnSpPr>
        <p:spPr>
          <a:xfrm>
            <a:off x="5271135" y="3467100"/>
            <a:ext cx="2325370" cy="237490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0" name="Rectangles 29"/>
          <p:cNvSpPr/>
          <p:nvPr/>
        </p:nvSpPr>
        <p:spPr>
          <a:xfrm>
            <a:off x="2366645" y="697230"/>
            <a:ext cx="6325235" cy="119126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marL="285750" indent="-285750" algn="l">
              <a:buFont typeface="Arial" panose="020B0604020202090204" pitchFamily="34" charset="0"/>
              <a:buChar char="•"/>
            </a:pPr>
            <a:r>
              <a:rPr lang="en-US"/>
              <a:t>Global uBump Map (xlsx, LEF)</a:t>
            </a:r>
            <a:endParaRPr lang="en-US"/>
          </a:p>
          <a:p>
            <a:pPr marL="285750" indent="-285750" algn="l">
              <a:buFont typeface="Arial" panose="020B0604020202090204" pitchFamily="34" charset="0"/>
              <a:buChar char="•"/>
            </a:pPr>
            <a:r>
              <a:rPr lang="en-US"/>
              <a:t>C4 Bump Map (xlsx, csv)</a:t>
            </a:r>
            <a:endParaRPr lang="en-US"/>
          </a:p>
          <a:p>
            <a:pPr marL="285750" indent="-285750" algn="l">
              <a:buFont typeface="Arial" panose="020B0604020202090204" pitchFamily="34" charset="0"/>
              <a:buChar char="•"/>
            </a:pPr>
            <a:r>
              <a:rPr lang="en-US"/>
              <a:t>Netlist; Connectivity (signal &amp; power), signal types, IP?</a:t>
            </a:r>
            <a:endParaRPr lang="en-US"/>
          </a:p>
          <a:p>
            <a:pPr marL="285750" indent="-285750" algn="l">
              <a:buFont typeface="Arial" panose="020B0604020202090204" pitchFamily="34" charset="0"/>
              <a:buChar char="•"/>
            </a:pPr>
            <a:r>
              <a:rPr lang="en-US"/>
              <a:t>SPEC; LSI, power, etc.</a:t>
            </a:r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Interposer Netlist</a:t>
            </a:r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9425" y="1691005"/>
            <a:ext cx="7521575" cy="455358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4465"/>
            <a:ext cx="10515600" cy="1325563"/>
          </a:xfrm>
        </p:spPr>
        <p:txBody>
          <a:bodyPr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9305" y="1578610"/>
            <a:ext cx="7138035" cy="504063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8530" y="1967865"/>
            <a:ext cx="7340600" cy="381762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6950" y="1814195"/>
            <a:ext cx="1550670" cy="439547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4785"/>
            <a:ext cx="10515600" cy="1325563"/>
          </a:xfrm>
        </p:spPr>
        <p:txBody>
          <a:bodyPr/>
          <a:p>
            <a:r>
              <a:rPr lang="en-US"/>
              <a:t>Query Dabase Query</a:t>
            </a:r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965" y="1691005"/>
            <a:ext cx="6496050" cy="47167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Backup</a:t>
            </a:r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 What Is an Interposer?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6420" y="5320030"/>
            <a:ext cx="10515600" cy="1016000"/>
          </a:xfrm>
        </p:spPr>
        <p:txBody>
          <a:bodyPr/>
          <a:p>
            <a:r>
              <a:rPr lang="en-US" altLang="en-US"/>
              <a:t>a thin slice of silicon that is between a chip package-substrate </a:t>
            </a:r>
            <a:endParaRPr lang="en-US" altLang="en-US"/>
          </a:p>
          <a:p>
            <a:r>
              <a:rPr lang="en-US" altLang="en-US"/>
              <a:t>connecting multiple chips together </a:t>
            </a:r>
            <a:endParaRPr lang="en-US" alt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1785" y="1464310"/>
            <a:ext cx="6149340" cy="3780790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696595" y="6410960"/>
            <a:ext cx="1051623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400"/>
              <a:t>ref. 1: </a:t>
            </a:r>
            <a:r>
              <a:rPr lang="en-US" altLang="en-US" sz="1400"/>
              <a:t>https://newsletter.semianalysis.com/p/ai-expansion-supply-chain-analysis</a:t>
            </a:r>
            <a:endParaRPr lang="en-US" altLang="en-US" sz="1400"/>
          </a:p>
          <a:p>
            <a:r>
              <a:rPr lang="en-US" altLang="en-US" sz="1400"/>
              <a:t>ref. 2: https://www.eetimes.com/emerging-packaging-tech-the-relentless-pursuit-of-small/4/</a:t>
            </a:r>
            <a:endParaRPr lang="en-US" altLang="en-US" sz="140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6610" y="1366520"/>
            <a:ext cx="4187190" cy="395351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5310" y="1859280"/>
            <a:ext cx="3734435" cy="452564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9950" y="1691005"/>
            <a:ext cx="4148455" cy="485330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Benefit of Using Database -I 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1021080" y="2009775"/>
            <a:ext cx="9606915" cy="4374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/>
              <a:t>1. The database captures the concepts of symbol (module) and instantiation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The original CSV is a flat list of wires</a:t>
            </a:r>
            <a:endParaRPr lang="en-US" altLang="en-US"/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en-US" altLang="en-US"/>
              <a:t> every row repeats the module name, the instance name, and the pin name as plain strings. </a:t>
            </a:r>
            <a:endParaRPr lang="en-US" altLang="en-US"/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en-US" altLang="en-US"/>
              <a:t>There's no notion of "X200 is a chiplet type with 2,192 pins, and X2TL, X2TR, X2BL, X2BR are four copies of that type." </a:t>
            </a:r>
            <a:endParaRPr lang="en-US" altLang="en-US"/>
          </a:p>
          <a:p>
            <a:pPr marL="742950" lvl="1" indent="-285750">
              <a:buFont typeface="Arial" panose="020B0604020202090204" pitchFamily="34" charset="0"/>
              <a:buChar char="•"/>
            </a:pPr>
            <a:endParaRPr lang="en-US" altLang="en-US"/>
          </a:p>
          <a:p>
            <a:r>
              <a:rPr lang="en-US" altLang="en-US"/>
              <a:t>The database makes this distinction first-class.</a:t>
            </a:r>
            <a:endParaRPr lang="en-US" altLang="en-US"/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en-US" altLang="en-US"/>
              <a:t>A symbol (e.g. X200) is the symbol (template)</a:t>
            </a:r>
            <a:endParaRPr lang="en-US" altLang="en-US"/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en-US" altLang="en-US"/>
              <a:t>A component (e.g. X2TL) is one instance of that template </a:t>
            </a:r>
            <a:endParaRPr lang="en-US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ym typeface="+mn-ea"/>
              </a:rPr>
              <a:t>Benefit of Using Database -II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/>
          </a:bodyPr>
          <a:p>
            <a:r>
              <a:rPr lang="en-US" altLang="en-US"/>
              <a:t>2. The database records what each LSI bridge actually connects internally</a:t>
            </a:r>
            <a:endParaRPr lang="en-US" altLang="en-US"/>
          </a:p>
          <a:p>
            <a:r>
              <a:rPr lang="en-US" altLang="en-US"/>
              <a:t>The CSV only tells you which signals enter and leave a bridge — it has nothing to say about which input pin is wired to which output pin inside IOLSI / HBMLSI / D2DLSI. That information lives in the third-party *_Pin_Connect.csv files, but you have to load them manually and cross-reference everything by hand.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The database loads those files at build time into a dedicated lsi_pin_map table (1,096 IOLSI + 9,353 HBMLSI + 1,092 D2DLSI pairs). That's how the explorer's "Export Edges" button knows what to export, and it's how the path-tracer can walk a signal end-to-end through the bridge. It also lets us catch real design questions cleanly — for example, the JTAG correction we just did (TCK / TMS / TRSTN / TDI / TDO routed past the bridge, not through it) is recorded as a small, code-documented transform; with a CSV-only flow, that correction would have to be reapplied by every consumer of the data, every time.</a:t>
            </a:r>
            <a:endParaRPr lang="en-US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6735" y="1937385"/>
            <a:ext cx="10264775" cy="291973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565" y="2395855"/>
            <a:ext cx="10825480" cy="20288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3187</Words>
  <Application>WPS Sheets</Application>
  <PresentationFormat>Widescreen</PresentationFormat>
  <Paragraphs>202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8" baseType="lpstr">
      <vt:lpstr>Arial</vt:lpstr>
      <vt:lpstr>SimSun</vt:lpstr>
      <vt:lpstr>Wingdings</vt:lpstr>
      <vt:lpstr>Calibri Light</vt:lpstr>
      <vt:lpstr>Helvetica Neue</vt:lpstr>
      <vt:lpstr>Microsoft YaHei</vt:lpstr>
      <vt:lpstr>汉仪旗黑</vt:lpstr>
      <vt:lpstr>Arial Unicode MS</vt:lpstr>
      <vt:lpstr>Calibri</vt:lpstr>
      <vt:lpstr>宋体-简</vt:lpstr>
      <vt:lpstr>-apple-system</vt:lpstr>
      <vt:lpstr>Thonburi</vt:lpstr>
      <vt:lpstr>Calibri</vt:lpstr>
      <vt:lpstr>Office Theme</vt:lpstr>
      <vt:lpstr>PowerPoint 演示文稿</vt:lpstr>
      <vt:lpstr>PowerPoint 演示文稿</vt:lpstr>
      <vt:lpstr>PowerPoint 演示文稿</vt:lpstr>
      <vt:lpstr>Floor Plan</vt:lpstr>
      <vt:lpstr>PowerPoint 演示文稿</vt:lpstr>
      <vt:lpstr>Task Definition </vt:lpstr>
      <vt:lpstr>Signal Connection Back-Annotation</vt:lpstr>
      <vt:lpstr>Channel Re-Order After Rotation</vt:lpstr>
      <vt:lpstr>PowerPoint 演示文稿</vt:lpstr>
      <vt:lpstr>PowerPoint 演示文稿</vt:lpstr>
      <vt:lpstr>Process Definition</vt:lpstr>
      <vt:lpstr>Process Definition - Details</vt:lpstr>
      <vt:lpstr>Interposer Netlist</vt:lpstr>
      <vt:lpstr>PowerPoint 演示文稿</vt:lpstr>
      <vt:lpstr>PowerPoint 演示文稿</vt:lpstr>
      <vt:lpstr>PowerPoint 演示文稿</vt:lpstr>
      <vt:lpstr>PowerPoint 演示文稿</vt:lpstr>
      <vt:lpstr> What Is an Interposer?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jeffrey</dc:creator>
  <cp:lastModifiedBy>jeffrey</cp:lastModifiedBy>
  <cp:revision>107</cp:revision>
  <dcterms:created xsi:type="dcterms:W3CDTF">2026-05-06T00:16:22Z</dcterms:created>
  <dcterms:modified xsi:type="dcterms:W3CDTF">2026-05-06T00:16:22Z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E8398AF21E44F28F5688FA69489A745E_43</vt:lpwstr>
  </property>
  <property fmtid="{D5CDD505-2E9C-101B-9397-08002B2CF9AE}" pid="3" name="KSOProductBuildVer">
    <vt:lpwstr>1033-12.1.25880.25880</vt:lpwstr>
  </property>
</Properties>
</file>